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31CB6C3B-2E01-1F44-A769-661E3C1D75D6}">
          <p14:sldIdLst/>
        </p14:section>
        <p14:section name="Fall-Registrierung" id="{15744D73-A565-8346-A3F5-E2919DE0F6AB}">
          <p14:sldIdLst/>
        </p14:section>
        <p14:section name="Fragebogen-Bibliothek" id="{7FD8496F-5202-334C-8EDD-F8F37FF36860}">
          <p14:sldIdLst/>
        </p14:section>
        <p14:section name="Vorgehen am CNBS-MA" id="{694B1882-19C1-C54C-8A4B-268BC7EE5970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>
      <p:cViewPr varScale="1">
        <p:scale>
          <a:sx n="109" d="100"/>
          <a:sy n="109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FEA548-1C7A-ACCA-534C-047C94CDF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5C5A2C-73C8-12B4-2C08-03850F345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060BF8-0E20-1116-5714-2AD314526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8135-1771-724F-AF71-5471B8F9E7D8}" type="datetimeFigureOut">
              <a:t>31.10.25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804964-0BA5-26AF-FB4B-EB453FB57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BA249D-7D94-A163-6242-E8FC4534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3B44-78E9-C14B-825B-C69B24FCD53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646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FF5BF-5B44-1C8D-74A6-F417ACB53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A6FBAE-7A94-08EC-D51E-95541A717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F211C4-4D4C-0953-77C7-D73E03D2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8135-1771-724F-AF71-5471B8F9E7D8}" type="datetimeFigureOut">
              <a:t>31.10.25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169DC6-9C7A-A7BB-6FE2-6B11F2925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6EE763-5CD3-21C0-20B7-6A71AAF8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3B44-78E9-C14B-825B-C69B24FCD53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951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1B4204-30A8-6B88-3ED1-8CE72E1B0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156AC2-09FA-F3FC-C80A-BEDFEA16C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EB04F1-BF2C-23DD-074C-E807713E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8135-1771-724F-AF71-5471B8F9E7D8}" type="datetimeFigureOut">
              <a:t>31.10.25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0BB6B9-2B5F-207D-DD9D-585660CA3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7C7275-DFC4-21D0-8D42-FA9229CA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3B44-78E9-C14B-825B-C69B24FCD53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544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B52D9F-754A-00F1-7B4C-27E20C41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10A204-F96E-7E6A-4ED6-3F31D0923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818DFDE-2A97-D5DD-A658-B67002F30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928277-38DB-6485-E002-DA7A4D28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8135-1771-724F-AF71-5471B8F9E7D8}" type="datetimeFigureOut">
              <a:t>31.10.25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54CFC9-BE40-D7B6-0753-F91FF1E4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381BCC-5736-B4DD-8CE0-1385CA691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3B44-78E9-C14B-825B-C69B24FCD53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34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336514-9B03-DE31-A825-39644862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0C2F05-6C3B-81B3-1061-BD54B1C21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E0FE54-87E0-7561-63DB-A9FDFAE6F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D3CEB96-2B5E-FFA7-C407-F2AB048D12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C5164D9-653B-C5F3-4CC1-974CF0285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CC0E308-A0B5-6A28-1E5E-267E3657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8135-1771-724F-AF71-5471B8F9E7D8}" type="datetimeFigureOut">
              <a:t>31.10.25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F601E98-8050-A532-41AA-52297F13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9E2B372-21BF-54AD-1B12-B0889349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3B44-78E9-C14B-825B-C69B24FCD53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13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EBC7C8-0E00-6F4B-B9AC-571C4D845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161F2F-BBD2-257C-B44A-D82E84F3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8135-1771-724F-AF71-5471B8F9E7D8}" type="datetimeFigureOut">
              <a:t>31.10.25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241A6A-2F1C-10EC-4B31-B4CE3860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0B7A0D-F2FB-3E27-2E8B-F446A269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3B44-78E9-C14B-825B-C69B24FCD53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18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2603A50-F7E5-ED49-D773-5FA519F3B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8135-1771-724F-AF71-5471B8F9E7D8}" type="datetimeFigureOut">
              <a:t>31.10.25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8914CE-4246-6C76-A401-2FF7D5F5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F51636-08FC-E9BD-BAC1-664E001D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3B44-78E9-C14B-825B-C69B24FCD53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6530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F1664-2934-D505-E58C-3AAF748AA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A5B682-0B2F-2CFA-BFE7-9D0958CBC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16BAD7-57DD-5720-66EE-2E39572DB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791ACBB-70E9-B85F-A324-93DFA1EAB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8135-1771-724F-AF71-5471B8F9E7D8}" type="datetimeFigureOut">
              <a:t>31.10.25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AD2918-CE04-3B21-F249-EE6AD7942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A53C7B-3B22-1F64-F74A-90D3DB4F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3B44-78E9-C14B-825B-C69B24FCD53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350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60D32-B86A-C6F7-E754-C532EDEA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25185E3-4A09-05CB-DAF1-F5B7E7E31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E445B7-F6BE-C01C-415F-EDBD9EC18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5E6C45-EA44-5D6C-982F-1663EC9F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8135-1771-724F-AF71-5471B8F9E7D8}" type="datetimeFigureOut">
              <a:t>31.10.25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7D7EC3-3656-8895-7631-D00DFE44C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C303EA-FA9B-6FE8-3F9A-645CEAE0A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3B44-78E9-C14B-825B-C69B24FCD53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939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EEF790-5280-3998-27E5-8C508CB71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8B0190-9FD5-5C6C-1A35-E08B0FA4B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DE9D95-91C7-2594-6187-540A7AA0B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8135-1771-724F-AF71-5471B8F9E7D8}" type="datetimeFigureOut">
              <a:t>31.10.25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25D361-87E4-08DF-89E8-00A0E4E36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34016B-7C09-8516-B2DF-5D0C08AD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3B44-78E9-C14B-825B-C69B24FCD53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8872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45DDCAB-3AB9-F848-B09D-A23C9ECE5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4128520-3D21-8751-7107-14B002B38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F9CB51-3D3D-46E8-9393-8170E338E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8135-1771-724F-AF71-5471B8F9E7D8}" type="datetimeFigureOut">
              <a:t>31.10.25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C27148-3F9E-A05E-F38F-06830B37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0B8E94-A563-B863-C3A5-4CCAA9A00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3B44-78E9-C14B-825B-C69B24FCD53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620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EFE5D31-D585-7A15-009D-7D4AF9B99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8FB3A4-E7AE-0851-3096-435BB5639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658B89-C233-6F5B-2CCB-528177E12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D8135-1771-724F-AF71-5471B8F9E7D8}" type="datetimeFigureOut">
              <a:t>31.10.25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546C9F-F448-27C2-4E97-33415D72A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926883-5412-E9EF-F545-2AA981A84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E3B44-78E9-C14B-825B-C69B24FCD53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04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feld 25">
            <a:extLst>
              <a:ext uri="{FF2B5EF4-FFF2-40B4-BE49-F238E27FC236}">
                <a16:creationId xmlns:a16="http://schemas.microsoft.com/office/drawing/2014/main" id="{09D4050E-FACF-8CC6-5FCE-297ECE34AA50}"/>
              </a:ext>
            </a:extLst>
          </p:cNvPr>
          <p:cNvSpPr txBox="1"/>
          <p:nvPr/>
        </p:nvSpPr>
        <p:spPr>
          <a:xfrm>
            <a:off x="8192345" y="5925025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noProof="1">
              <a:solidFill>
                <a:schemeClr val="tx2"/>
              </a:solidFill>
            </a:endParaRPr>
          </a:p>
        </p:txBody>
      </p:sp>
      <p:graphicFrame>
        <p:nvGraphicFramePr>
          <p:cNvPr id="43" name="Tabelle 43">
            <a:extLst>
              <a:ext uri="{FF2B5EF4-FFF2-40B4-BE49-F238E27FC236}">
                <a16:creationId xmlns:a16="http://schemas.microsoft.com/office/drawing/2014/main" id="{6751DB0A-0639-390A-9A09-659EC8E1B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723164"/>
              </p:ext>
            </p:extLst>
          </p:nvPr>
        </p:nvGraphicFramePr>
        <p:xfrm>
          <a:off x="996527" y="563643"/>
          <a:ext cx="1019894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846">
                  <a:extLst>
                    <a:ext uri="{9D8B030D-6E8A-4147-A177-3AD203B41FA5}">
                      <a16:colId xmlns:a16="http://schemas.microsoft.com/office/drawing/2014/main" val="635484870"/>
                    </a:ext>
                  </a:extLst>
                </a:gridCol>
                <a:gridCol w="2080781">
                  <a:extLst>
                    <a:ext uri="{9D8B030D-6E8A-4147-A177-3AD203B41FA5}">
                      <a16:colId xmlns:a16="http://schemas.microsoft.com/office/drawing/2014/main" val="2987304465"/>
                    </a:ext>
                  </a:extLst>
                </a:gridCol>
                <a:gridCol w="6037318">
                  <a:extLst>
                    <a:ext uri="{9D8B030D-6E8A-4147-A177-3AD203B41FA5}">
                      <a16:colId xmlns:a16="http://schemas.microsoft.com/office/drawing/2014/main" val="3791501520"/>
                    </a:ext>
                  </a:extLst>
                </a:gridCol>
              </a:tblGrid>
              <a:tr h="285715">
                <a:tc>
                  <a:txBody>
                    <a:bodyPr/>
                    <a:lstStyle/>
                    <a:p>
                      <a:r>
                        <a:rPr lang="de-DE" noProof="1">
                          <a:solidFill>
                            <a:schemeClr val="tx1"/>
                          </a:solidFill>
                        </a:rPr>
                        <a:t>Phase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noProof="1">
                          <a:solidFill>
                            <a:schemeClr val="tx1"/>
                          </a:solidFill>
                        </a:rPr>
                        <a:t>Rolle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noProof="1">
                          <a:solidFill>
                            <a:schemeClr val="tx1"/>
                          </a:solidFill>
                        </a:rPr>
                        <a:t>Aufgabe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123636"/>
                  </a:ext>
                </a:extLst>
              </a:tr>
              <a:tr h="285715">
                <a:tc rowSpan="2">
                  <a:txBody>
                    <a:bodyPr/>
                    <a:lstStyle/>
                    <a:p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Vorbereitung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Ärzt*in / Operator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Einwilligung NTBS-Studie + Registrierung CLIPP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9230"/>
                  </a:ext>
                </a:extLst>
              </a:tr>
              <a:tr h="28571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Patient*in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noProof="1">
                          <a:solidFill>
                            <a:schemeClr val="tx1"/>
                          </a:solidFill>
                        </a:rPr>
                        <a:t>outpatient_nibs_phenotype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372781"/>
                  </a:ext>
                </a:extLst>
              </a:tr>
              <a:tr h="285715">
                <a:tc rowSpan="2">
                  <a:txBody>
                    <a:bodyPr/>
                    <a:lstStyle/>
                    <a:p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Phase 1 </a:t>
                      </a:r>
                    </a:p>
                    <a:p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(Woche 1-4)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Täglich Montag bis Freitag: </a:t>
                      </a:r>
                      <a:r>
                        <a:rPr lang="de-DE" b="1" noProof="1">
                          <a:solidFill>
                            <a:schemeClr val="tx1"/>
                          </a:solidFill>
                        </a:rPr>
                        <a:t>outpatient_nibs_treatment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736893"/>
                  </a:ext>
                </a:extLst>
              </a:tr>
              <a:tr h="28571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Patient*in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Zusätzlich jeden Freitag: </a:t>
                      </a:r>
                      <a:r>
                        <a:rPr lang="de-DE" b="1" noProof="1">
                          <a:solidFill>
                            <a:schemeClr val="tx1"/>
                          </a:solidFill>
                        </a:rPr>
                        <a:t>outpatient_nibs_rating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232428"/>
                  </a:ext>
                </a:extLst>
              </a:tr>
              <a:tr h="285715">
                <a:tc>
                  <a:txBody>
                    <a:bodyPr/>
                    <a:lstStyle/>
                    <a:p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Abschluss Woche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Patient*in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noProof="1">
                          <a:solidFill>
                            <a:schemeClr val="tx1"/>
                          </a:solidFill>
                        </a:rPr>
                        <a:t>outpatient_nibs_rating_post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806218"/>
                  </a:ext>
                </a:extLst>
              </a:tr>
              <a:tr h="285715">
                <a:tc rowSpan="2">
                  <a:txBody>
                    <a:bodyPr/>
                    <a:lstStyle/>
                    <a:p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Phase 2</a:t>
                      </a:r>
                    </a:p>
                    <a:p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(Woche 5-6)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Täglich Montag bis Freitag: </a:t>
                      </a:r>
                      <a:r>
                        <a:rPr lang="de-DE" b="1" noProof="1">
                          <a:solidFill>
                            <a:schemeClr val="tx1"/>
                          </a:solidFill>
                        </a:rPr>
                        <a:t>outpatient_nibs_treatment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361244"/>
                  </a:ext>
                </a:extLst>
              </a:tr>
              <a:tr h="28571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Patient*in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Zusätzlich jeden Freitag: </a:t>
                      </a:r>
                      <a:r>
                        <a:rPr lang="de-DE" b="1" noProof="1">
                          <a:solidFill>
                            <a:schemeClr val="tx1"/>
                          </a:solidFill>
                        </a:rPr>
                        <a:t>outpatient_nibs_rating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315211"/>
                  </a:ext>
                </a:extLst>
              </a:tr>
              <a:tr h="3494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Abschluss Woche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noProof="1">
                          <a:solidFill>
                            <a:schemeClr val="tx1"/>
                          </a:solidFill>
                        </a:rPr>
                        <a:t>Patient*in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noProof="1">
                          <a:solidFill>
                            <a:schemeClr val="tx1"/>
                          </a:solidFill>
                        </a:rPr>
                        <a:t>outpatient_nibs_rating_post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328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743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Macintosh PowerPoint</Application>
  <PresentationFormat>Breitbild</PresentationFormat>
  <Paragraphs>26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Phenotyping Platform (CLIPP)</dc:title>
  <dc:creator>Gerrit Burkhardt</dc:creator>
  <cp:lastModifiedBy>Gerrit Burkhardt</cp:lastModifiedBy>
  <cp:revision>5</cp:revision>
  <dcterms:created xsi:type="dcterms:W3CDTF">2023-01-30T07:34:32Z</dcterms:created>
  <dcterms:modified xsi:type="dcterms:W3CDTF">2025-10-31T13:18:43Z</dcterms:modified>
</cp:coreProperties>
</file>